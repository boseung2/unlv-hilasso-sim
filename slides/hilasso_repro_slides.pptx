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pple SD Gothic Neo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Apple SD Gothic Neo"/>
              </a:rPr>
              <a:t>F1 – 우리 vs 논문 (10회 평균)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우리 재현</c:v>
                </c:pt>
              </c:strCache>
            </c:strRef>
          </c:tx>
          <c:spPr>
            <a:solidFill>
              <a:srgbClr val="4A78C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LASSO · I</c:v>
                  </c:pt>
                  <c:pt idx="1">
                    <c:v>ENet · I</c:v>
                  </c:pt>
                  <c:pt idx="2">
                    <c:v>LASSO · II</c:v>
                  </c:pt>
                  <c:pt idx="3">
                    <c:v>ENet · II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0.3526</c:v>
                </c:pt>
                <c:pt idx="1">
                  <c:v>0.3719</c:v>
                </c:pt>
                <c:pt idx="2">
                  <c:v>0.1418</c:v>
                </c:pt>
                <c:pt idx="3">
                  <c:v>0.1802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논문 Table 3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LASSO · I</c:v>
                  </c:pt>
                  <c:pt idx="1">
                    <c:v>ENet · I</c:v>
                  </c:pt>
                  <c:pt idx="2">
                    <c:v>LASSO · II</c:v>
                  </c:pt>
                  <c:pt idx="3">
                    <c:v>ENet · II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0.4399</c:v>
                </c:pt>
                <c:pt idx="1">
                  <c:v>0.4238</c:v>
                </c:pt>
                <c:pt idx="2">
                  <c:v>0.1169</c:v>
                </c:pt>
                <c:pt idx="3">
                  <c:v>0.1578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Apple SD Gothic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pple SD Gothic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pple SD Gothic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Apple SD Gothic Neo"/>
              <a:cs typeface="Apple SD Gothic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pple SD Gothic Neo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Apple SD Gothic Neo"/>
              </a:rPr>
              <a:t>F1 비율 = 우리 ÷ 논문  (1.0이면 완전 재현)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LASSO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Dataset I</c:v>
                  </c:pt>
                  <c:pt idx="1">
                    <c:v>Dataset II</c:v>
                  </c:pt>
                  <c:pt idx="2">
                    <c:v>Dataset III</c:v>
                  </c:pt>
                  <c:pt idx="3">
                    <c:v>Dataset IV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1.21</c:v>
                </c:pt>
                <c:pt idx="2">
                  <c:v>0.4</c:v>
                </c:pt>
                <c:pt idx="3">
                  <c:v>0.64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Elastic-Net</c:v>
                </c:pt>
              </c:strCache>
            </c:strRef>
          </c:tx>
          <c:spPr>
            <a:solidFill>
              <a:srgbClr val="4A78C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Dataset I</c:v>
                  </c:pt>
                  <c:pt idx="1">
                    <c:v>Dataset II</c:v>
                  </c:pt>
                  <c:pt idx="2">
                    <c:v>Dataset III</c:v>
                  </c:pt>
                  <c:pt idx="3">
                    <c:v>Dataset IV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0.88</c:v>
                </c:pt>
                <c:pt idx="1">
                  <c:v>1.14</c:v>
                </c:pt>
                <c:pt idx="2">
                  <c:v>0.49</c:v>
                </c:pt>
                <c:pt idx="3">
                  <c:v>0.61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Apple SD Gothic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pple SD Gothic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4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pple SD Gothic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Apple SD Gothic Neo"/>
              <a:cs typeface="Apple SD Gothic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pple SD Gothic Neo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Apple SD Gothic Neo"/>
              </a:rPr>
              <a:t>F1 – 규칙만 바꿨을 때 (Dataset III·IV)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val-min (기존)</c:v>
                </c:pt>
              </c:strCache>
            </c:strRef>
          </c:tx>
          <c:spPr>
            <a:solidFill>
              <a:srgbClr val="A8B3C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LASSO · III</c:v>
                  </c:pt>
                  <c:pt idx="1">
                    <c:v>ENet · III</c:v>
                  </c:pt>
                  <c:pt idx="2">
                    <c:v>LASSO · IV</c:v>
                  </c:pt>
                  <c:pt idx="3">
                    <c:v>ENet · IV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0.1286</c:v>
                </c:pt>
                <c:pt idx="1">
                  <c:v>0.1592</c:v>
                </c:pt>
                <c:pt idx="2">
                  <c:v>0.1883</c:v>
                </c:pt>
                <c:pt idx="3">
                  <c:v>0.1909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val-1se (개선)</c:v>
                </c:pt>
              </c:strCache>
            </c:strRef>
          </c:tx>
          <c:spPr>
            <a:solidFill>
              <a:srgbClr val="4A78C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LASSO · III</c:v>
                  </c:pt>
                  <c:pt idx="1">
                    <c:v>ENet · III</c:v>
                  </c:pt>
                  <c:pt idx="2">
                    <c:v>LASSO · IV</c:v>
                  </c:pt>
                  <c:pt idx="3">
                    <c:v>ENet · IV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0.1907</c:v>
                </c:pt>
                <c:pt idx="1">
                  <c:v>0.2555</c:v>
                </c:pt>
                <c:pt idx="2">
                  <c:v>0.238</c:v>
                </c:pt>
                <c:pt idx="3">
                  <c:v>0.2532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논문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LASSO · III</c:v>
                  </c:pt>
                  <c:pt idx="1">
                    <c:v>ENet · III</c:v>
                  </c:pt>
                  <c:pt idx="2">
                    <c:v>LASSO · IV</c:v>
                  </c:pt>
                  <c:pt idx="3">
                    <c:v>ENet · IV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0.3206</c:v>
                </c:pt>
                <c:pt idx="1">
                  <c:v>0.3258</c:v>
                </c:pt>
                <c:pt idx="2">
                  <c:v>0.293</c:v>
                </c:pt>
                <c:pt idx="3">
                  <c:v>0.3145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1F2937"/>
                  </a:solidFill>
                  <a:latin typeface="Apple SD Gothic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pple SD Gothic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pple SD Gothic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Apple SD Gothic Neo"/>
              <a:cs typeface="Apple SD Gothic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pple SD Gothic Neo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Apple SD Gothic Neo"/>
              </a:rPr>
              <a:t>LASSO F1 – 정답지를 봐도(oracle) 논문에 못 미친다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val-min</c:v>
                </c:pt>
              </c:strCache>
            </c:strRef>
          </c:tx>
          <c:spPr>
            <a:solidFill>
              <a:srgbClr val="A8B3C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Dataset III</c:v>
                  </c:pt>
                  <c:pt idx="1">
                    <c:v>Dataset IV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0.1286</c:v>
                </c:pt>
                <c:pt idx="1">
                  <c:v>0.1883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val-1se</c:v>
                </c:pt>
              </c:strCache>
            </c:strRef>
          </c:tx>
          <c:spPr>
            <a:solidFill>
              <a:srgbClr val="4A78C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Dataset III</c:v>
                  </c:pt>
                  <c:pt idx="1">
                    <c:v>Dataset IV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0.1907</c:v>
                </c:pt>
                <c:pt idx="1">
                  <c:v>0.238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oracle (이론상 천장)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Dataset III</c:v>
                  </c:pt>
                  <c:pt idx="1">
                    <c:v>Dataset IV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0.2349</c:v>
                </c:pt>
                <c:pt idx="1">
                  <c:v>0.2653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논문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Dataset III</c:v>
                  </c:pt>
                  <c:pt idx="1">
                    <c:v>Dataset IV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0.3206</c:v>
                </c:pt>
                <c:pt idx="1">
                  <c:v>0.293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Apple SD Gothic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pple SD Gothic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pple SD Gothic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F2937"/>
              </a:solidFill>
              <a:latin typeface="Apple SD Gothic Neo"/>
              <a:cs typeface="Apple SD Gothic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제목에서 이미 '안 맞았다'를 예고해 궁금증을 유발. 발표는 재현 성공담이 아니라 격차 추적기라는 톤 설정.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멘트: '베이스라인이 안 맞으면 그 위에 쌓는 결과도 못 믿는다.' 재현이 최종 목표(Hi-LASSO 구현)의 토대임을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멘트: 논문 3편을 강독했고, 전부 같은 실험 설계를 물려받은 한 가족. 각 단계에서 무엇이 추가됐는지만 짚기.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멘트: 정답을 아는 시험지라서 F1로 변수 선택을 직접 채점. SNR 열은 나중에 복선이 되므로 지금은 '신호 세기' 정도로만 소개.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멘트: 예전 폴더에서 결과가 실행마다 튀던 원인 셋을 전부 찾아 처음부터 못 박았다. 결정마다 '안 하면 생기는 일'이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멘트: '여기까지는 교과서적 성공. 그런데–' 하고 다음 장으로 넘어가며 긴장 조성.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멘트: 슬라이드 끝을 '왜?'로 마치고 잠깐 멈춘다. RME·RMSE가 좋다는 점이 단순 실수설을 배제하는 단서.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멘트: oracle을 넣은 이유가 이 실험의 똑똑한 부분 – 선택 규칙의 문제인지, 데이터 자체의 문제인지를 가르는 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멘트: 범인 한 명(과다선택)은 잡았는데 격차가 다 설명되지 않는다 → 다음 장으로.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발표의 하이라이트. 멘트: 'I·II가 맞고 III·IV만 틀린 이유까지 SNR 하나로 전부 설명된다 – 사건 종결.'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멘트: 미완성이지만 어디가 문제인지는 특정된 상태. recall은 높은데 precision이 무너진다 = 자르는 위치의 문제.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멘트: 격차 추적에서 얻은 발견이 그대로 다음 실험의 설계가 된다 – 삽질이 아니라 설계 자산.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 멘트: '재현이 안 맞는 것 자체가 발견이었다.' 질문 받기 전 마지막 문장.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'숫자를 자세히 보여달라'는 질문 대비. ENet oracle이 매우 높은 것은 alpha 그리드 전체를 탐색한 상한이기 때문.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'정말 논문대로 했나' 검증 질문 대비. 논문 문장 단위로 코드가 1:1 대응됨을 보여주는 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'가장 고생한 버그' 질문 대비. 간헐 버그 → 평균 왜곡 → 원인 특정 → 규칙화의 흐름.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2A3A7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566160"/>
            <a:ext cx="3291840" cy="3291840"/>
          </a:xfrm>
          <a:prstGeom prst="ellipse">
            <a:avLst/>
          </a:prstGeom>
          <a:solidFill>
            <a:srgbClr val="2A3A7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120640"/>
            <a:ext cx="1463040" cy="1463040"/>
          </a:xfrm>
          <a:prstGeom prst="ellipse">
            <a:avLst/>
          </a:prstGeom>
          <a:solidFill>
            <a:srgbClr val="B3261E">
              <a:alpha val="6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UNLV ML INTERNSHIP  ·  PROJECT 5  ·  LASSO FEATURE SELECTION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Hi-LASSO 시뮬레이션 재현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논문과 안 맞았던 절반, 그 원인을 찾기까지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48640" y="5394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FB4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정보승 – 전북대학교 컴퓨터인공지능학부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FB4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Kim et al., “Hi-LASSO” (IEEE Access 2019) Section III 재현  ·  2026년 7월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1부 – 배경과 목표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프로젝트 목표 – 논문 실험을 그대로 다시 만들 수 있는가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222992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1막 · 배경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035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무엇을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Hi-LASSO 논문(Kim et al., IEEE Access 2019)의 Section III 시뮬레이션 연구를 처음부터 재현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재현이란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논문과 같은 데이터를 만들고 → 같은 방법을 돌려 → 같은 점수(Table 3)가 나오는지 확인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재현부터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목표는 Hi-LASSO 직접 구현 – 그 성능을 믿으려면 비교 기준(LASSO 등)부터 논문과 같은 조건에서 같은 숫자가 나와야 함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B32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베이스라인이 안 맞으면, 그 위에 쌓는 결과도 믿을 수 없다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223760" y="1737360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52360" y="19202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 Table 3 (2019)</a:t>
            </a:r>
            <a:endParaRPr lang="en-US" sz="15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LASSO · Elastic-Net · Random LASSO · Hi-LASSO 성능표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52560" y="3246120"/>
            <a:ext cx="548640" cy="777240"/>
          </a:xfrm>
          <a:prstGeom prst="downArrow">
            <a:avLst/>
          </a:prstGeom>
          <a:solidFill>
            <a:srgbClr val="4A78C4"/>
          </a:solidFill>
          <a:ln/>
        </p:spPr>
      </p:sp>
      <p:sp>
        <p:nvSpPr>
          <p:cNvPr id="10" name="Text 8"/>
          <p:cNvSpPr/>
          <p:nvPr/>
        </p:nvSpPr>
        <p:spPr>
          <a:xfrm>
            <a:off x="9710928" y="33101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데이터 · 같은 방법 · 같은 채점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223760" y="4160520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0F4FA"/>
          </a:solidFill>
          <a:ln/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52360" y="43434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 재현 (project_v2)</a:t>
            </a:r>
            <a:endParaRPr lang="en-US" sz="15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노트북 3개 + 진단 실험 – 같은 숫자가 나오는가?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1부 – 배경과 목표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방법의 계보 – 논문 3편, 한 가족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222992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1막 · 배경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97280" y="3063240"/>
            <a:ext cx="9692640" cy="0"/>
          </a:xfrm>
          <a:prstGeom prst="line">
            <a:avLst/>
          </a:prstGeom>
          <a:noFill/>
          <a:ln w="31750">
            <a:solidFill>
              <a:srgbClr val="A8B3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651760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9AA5B1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26334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1996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3749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LASSO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0040" y="408736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계수에 벌점을 줘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변수를 자동 선택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03320" y="2651760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9AA5B1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03320" y="26334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2011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3749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Random LASSO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880360" y="408736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부트스트랩 + 변수 무작위 추출로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상관 변수·p&gt;n 한계 보완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49340" y="2537460"/>
            <a:ext cx="1051560" cy="1051560"/>
          </a:xfrm>
          <a:prstGeom prst="ellipse">
            <a:avLst/>
          </a:prstGeom>
          <a:solidFill>
            <a:srgbClr val="B3261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5B1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49340" y="251917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2019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40680" y="3749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Hi-LASSO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40680" y="408736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2단계 부트스트랩 + 전역 오라클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– 우리가 재현하는 논문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23960" y="2651760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12700" dir="5400000">
              <a:srgbClr val="9AA5B1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23960" y="26334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01000" y="3749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Stochastic LASSO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001000" y="408736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최신 SOTA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시뮬레이션 계보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0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재현 대상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1984248"/>
            <a:ext cx="0" cy="457200"/>
          </a:xfrm>
          <a:prstGeom prst="line">
            <a:avLst/>
          </a:prstGeom>
          <a:noFill/>
          <a:ln w="19050">
            <a:solidFill>
              <a:srgbClr val="B3261E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방법 모두 같은 실험 설계(Dataset I~IV)를 물려받는다 → 하나의 재현 기반 위에서 전부 비교 가능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1부 – 배경과 목표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실험 설계 – 시험 문제와 채점 기준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222992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1막 · 배경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시험 문제 – 정답을 아는 가짜 데이터 4종 (논문 Table 2)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3152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2011680"/>
                <a:gridCol w="182880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데이터셋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변수 p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정답(비0) 계수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표본 n (tr/val/te)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SNR (논문)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100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10개 고정값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50 / 10 / 10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2.9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II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1,000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50개 ~ N(0,4)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100 / 20 / 20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4.2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III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10,000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50개 ~ N(0,4)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200 / 40 / 40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14.4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IV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10,000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50개 ~ N(0,4)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400 / 80 / 80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9.5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977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공통 구조</a:t>
            </a:r>
            <a:endParaRPr lang="en-US" sz="115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신호 변수끼리 상관 0.9 그룹 – LASSO가 그룹에서 하나만 골라버리도록 의도된 어려운 설계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III·IV는 p=10,000 고차원 (p ≫ n)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채점 기준 – 4가지 점수 (10회 반복 평균)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0" y="1810512"/>
            <a:ext cx="3429000" cy="969264"/>
          </a:xfrm>
          <a:prstGeom prst="roundRect">
            <a:avLst>
              <a:gd name="adj" fmla="val 8491"/>
            </a:avLst>
          </a:prstGeom>
          <a:solidFill>
            <a:srgbClr val="F0F4FA"/>
          </a:solidFill>
          <a:ln/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412480" y="192938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RME_All / RME_Nonzeros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계수를 얼마나 정확히 맞췄나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0" y="2926080"/>
            <a:ext cx="3429000" cy="969264"/>
          </a:xfrm>
          <a:prstGeom prst="roundRect">
            <a:avLst>
              <a:gd name="adj" fmla="val 8491"/>
            </a:avLst>
          </a:prstGeom>
          <a:solidFill>
            <a:srgbClr val="F0F4FA"/>
          </a:solidFill>
          <a:ln/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412480" y="304495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RMSE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새 데이터를 얼마나 잘 예측하나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0" y="4041648"/>
            <a:ext cx="3429000" cy="969264"/>
          </a:xfrm>
          <a:prstGeom prst="roundRect">
            <a:avLst>
              <a:gd name="adj" fmla="val 849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412480" y="41605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F1  ★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정답 변수를 얼마나 잘 골랐나 – 이 발표의 주인공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정답 변수 위치를 아는 시험지 → '변수를 맞게 골랐는가'를 F1로 직접 채점할 수 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2부 – 재현 프로토콜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결과가 '튀지 않게' 만든 3가지 결정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222992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2막 · 방법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93592" cy="3108960"/>
          </a:xfrm>
          <a:prstGeom prst="roundRect">
            <a:avLst>
              <a:gd name="adj" fmla="val 2647"/>
            </a:avLst>
          </a:prstGeom>
          <a:solidFill>
            <a:srgbClr val="F0F4FA"/>
          </a:solidFill>
          <a:ln/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3852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90195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공분산 = 상관행렬 (단위분산)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xᵢ ~ N(0,1), σ² 스케일 없음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429000"/>
            <a:ext cx="3044952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47872"/>
            <a:ext cx="3044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32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 하면 → 신호 세기(SNR)가 논문과 어긋남. 이 결정으로 논문 SNR(I≈2.9, II≈4.2) 재현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62272" y="1691640"/>
            <a:ext cx="3593592" cy="3108960"/>
          </a:xfrm>
          <a:prstGeom prst="roundRect">
            <a:avLst>
              <a:gd name="adj" fmla="val 2647"/>
            </a:avLst>
          </a:prstGeom>
          <a:solidFill>
            <a:srgbClr val="F0F4FA"/>
          </a:solidFill>
          <a:ln/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18304" y="193852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718304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30952" y="190195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정답 β 고정 (시드 34)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36592" y="278892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β는 한 번만 뽑고, X와 잡음만 반복 재생성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36592" y="3429000"/>
            <a:ext cx="3044952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3547872"/>
            <a:ext cx="3044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32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 하면 → 매번 다른 시험지를 푸는 셈이라 반복 결과가 요동 (예전 실험이 튀던 최대 원인)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75904" y="1691640"/>
            <a:ext cx="3593592" cy="3108960"/>
          </a:xfrm>
          <a:prstGeom prst="roundRect">
            <a:avLst>
              <a:gd name="adj" fmla="val 2647"/>
            </a:avLst>
          </a:prstGeom>
          <a:solidFill>
            <a:srgbClr val="F0F4FA"/>
          </a:solidFill>
          <a:ln/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31936" y="193852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631936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44584" y="190195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λ = held-out 검증 MSE 최소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650224" y="278892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교차검증(CV) 아님 – 논문 방식 그대로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50224" y="3429000"/>
            <a:ext cx="3044952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50224" y="3547872"/>
            <a:ext cx="3044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32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 하면 → 논문과 다른 규칙으로 모델을 골라 비교 자체가 무의미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16636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51663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솔버: R glmnet 5.0 (rpy2 경유) – 원저자 코드와 동일한 Fortran 코어  ·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무거운 계산은 원격 클러스터(112코어)에서 병렬 실행, 분석은 로컬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3부 – 결과와 격차 추적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 ① – Dataset I·II는 논문과 잘 맞았다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222992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3막 · 결과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45920"/>
          <a:ext cx="6492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406640" y="192024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LASSO(01)·Elastic-Net(02) 재현 완료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논문과 같은 자릿수·근접 – RME·RMSE도 0.6~1.2배 범위</a:t>
            </a:r>
            <a:endParaRPr lang="en-US" sz="130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방향성 일치: Dataset II에서 F1 폭락 + Elastic-Net &gt; LASSO (0.18 vs 0.14) – 논문이 보여주려는 '기존 방법의 한계' 그림 그대로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406640" y="4846320"/>
            <a:ext cx="4206240" cy="914400"/>
          </a:xfrm>
          <a:prstGeom prst="roundRect">
            <a:avLst>
              <a:gd name="adj" fmla="val 9000"/>
            </a:avLst>
          </a:prstGeom>
          <a:solidFill>
            <a:srgbClr val="E8F1E9"/>
          </a:solidFill>
          <a:ln/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635240" y="4846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E7D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여기까지는 교과서적 성공. 그런데 –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3부 – 결과와 격차 추적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 ② – 사건 발생: III·IV에서 F1이 반토막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222992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3막 · 결과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45920"/>
          <a:ext cx="6492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406640" y="173736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5400" b="1" dirty="0">
                <a:solidFill>
                  <a:srgbClr val="B32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0.40</a:t>
            </a:r>
            <a:endParaRPr lang="en-US" sz="5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LASSO Dataset III – 논문의 40% 수준 (0.129 vs 0.321)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7406640" y="32918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이상한 점: 같은 데이터에서 RME·RMSE는 오히려 논문보다 좋게 나옴</a:t>
            </a:r>
            <a:endParaRPr lang="en-US" sz="130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'실험을 잘못했다'로는 설명이 안 되는 패턴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06640" y="46634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32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왜?</a:t>
            </a:r>
            <a:endParaRPr lang="en-US" sz="6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3부 – 결과와 격차 추적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가설과 진단 실험 – λ 선택 규칙 3종 비교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222992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3막 · 추적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BEAE8"/>
          </a:solidFill>
          <a:ln/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54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2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가설  </a:t>
            </a:r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“검증셋 MSE 최소 λ가 변수를 너무 많이 골라서(과다선택) precision이 무너진 것 아닐까?”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3593592" cy="2377440"/>
          </a:xfrm>
          <a:prstGeom prst="roundRect">
            <a:avLst>
              <a:gd name="adj" fmla="val 3462"/>
            </a:avLst>
          </a:prstGeom>
          <a:solidFill>
            <a:srgbClr val="F0F4FA"/>
          </a:solidFill>
          <a:ln/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926080"/>
            <a:ext cx="1600200" cy="411480"/>
          </a:xfrm>
          <a:prstGeom prst="roundRect">
            <a:avLst>
              <a:gd name="adj" fmla="val 22222"/>
            </a:avLst>
          </a:prstGeom>
          <a:solidFill>
            <a:srgbClr val="A8B3C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26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val-min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검증셋 MSE가 최소인 λ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노트북 방식 – 용의자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62272" y="2697480"/>
            <a:ext cx="3593592" cy="2377440"/>
          </a:xfrm>
          <a:prstGeom prst="roundRect">
            <a:avLst>
              <a:gd name="adj" fmla="val 3462"/>
            </a:avLst>
          </a:prstGeom>
          <a:solidFill>
            <a:srgbClr val="F0F4FA"/>
          </a:solidFill>
          <a:ln/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2926080"/>
            <a:ext cx="1600200" cy="411480"/>
          </a:xfrm>
          <a:prstGeom prst="roundRect">
            <a:avLst>
              <a:gd name="adj" fmla="val 22222"/>
            </a:avLst>
          </a:prstGeom>
          <a:solidFill>
            <a:srgbClr val="4A78C4"/>
          </a:solidFill>
          <a:ln/>
        </p:spPr>
      </p:sp>
      <p:sp>
        <p:nvSpPr>
          <p:cNvPr id="15" name="Text 13"/>
          <p:cNvSpPr/>
          <p:nvPr/>
        </p:nvSpPr>
        <p:spPr>
          <a:xfrm>
            <a:off x="4736592" y="2926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val-1se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36592" y="352044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최소 MSE + 1표준오차 안에서 가장 큰(희소한) λ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36592" y="443484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더 깐깐하게 고르는 규칙 – 해결 후보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75904" y="2697480"/>
            <a:ext cx="3593592" cy="2377440"/>
          </a:xfrm>
          <a:prstGeom prst="roundRect">
            <a:avLst>
              <a:gd name="adj" fmla="val 3462"/>
            </a:avLst>
          </a:prstGeom>
          <a:solidFill>
            <a:srgbClr val="F0F4FA"/>
          </a:solidFill>
          <a:ln/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50224" y="2926080"/>
            <a:ext cx="1600200" cy="411480"/>
          </a:xfrm>
          <a:prstGeom prst="roundRect">
            <a:avLst>
              <a:gd name="adj" fmla="val 22222"/>
            </a:avLst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8650224" y="2926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f1-oracle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50224" y="352044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정답지를 보고 경로에서 F1 최대 지점 선택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50224" y="443484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방법이 아니라 '이론상 천장' 측정용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440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데이터·같은 10회 반복에서 세 규칙만 바꿔 비교 (compare_lambda_rules.py)  ·  </a:t>
            </a:r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oracle이 핵심 – “아무리 잘 골라도 어디까지 가능한가”라는 천장을 잰다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3부 – 결과와 격차 추적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발견 ①② – 가설은 맞았다, 그런데 부족했다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222992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3막 · 추적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45920"/>
          <a:ext cx="6492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406640" y="1783080"/>
            <a:ext cx="4206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과다선택 확증</a:t>
            </a:r>
            <a:endParaRPr lang="en-US" sz="12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val-min: III에서 평균 76개 선택(정답 50개) → precision 0.12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val-1se: 7~12개로 압축 → precision 0.78~0.99, F1 +48%(III)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그래도 논문엔 못 미침</a:t>
            </a:r>
            <a:endParaRPr lang="en-US" sz="12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LASSO III: 0.19 vs 논문 0.32</a:t>
            </a:r>
            <a:endParaRPr lang="en-US" sz="12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대신 RME·RMSE가 논문과 거의 일치(비율 0.96~0.97) → 논문도 희소한 λ를 골랐을 가능성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3부 – 결과와 격차 추적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발견 ③ – 진범: 논문이 '천장'보다 높다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222992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3막 · 진범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4592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715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B32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 데이터의 λ 경로 어디에도 논문 수준 F1의 해가 없다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고르는 방법의 문제가 아니라, 데이터 자체가 다르다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4944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진범 = 신호 세기 (SNR = βᵀΣβ/σ²)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103120"/>
          <a:ext cx="46634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데이터셋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우리 SNR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논문 SNR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F1 재현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2.9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2.9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일치 ✓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II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4.4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4.2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일치 ✓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III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4.4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14.4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격차 ✗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IV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4.4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9.5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격차 ✗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949440" y="416052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SNR이 비슷했던 I·II는 맞았고, 2~3배 낮은 III·IV만 틀렸다 – 앞뒤가 전부 맞아떨어짐</a:t>
            </a:r>
            <a:endParaRPr lang="en-US" sz="12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원인: β를 N(0,4)에서 뽑을 때 draw에 따라 SNR이 크게 요동(관찰 범위 2~75). 논문 저자의 draw가 우연히 훨씬 강한 신호였던 것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4부 – 진행 중과 다음 계획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진행 중 – Random LASSO 구현·원격 실행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222992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4막 · 현재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309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구현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계보의 다음 단계인 Random LASSO를 순수 Python으로 직접 구현 (lib/random_lasso.py)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인프라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R이 없는 원격 클러스터(112코어)에서 병렬 실행하는 파이프라인 구축 – GitHub로 코드 동기화, 무거운 계산은 원격·분석은 로컬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상태 (Dataset III·IV, 10회 완료)</a:t>
            </a:r>
            <a:endParaRPr lang="en-US" sz="130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신호는 거의 다 잡는데(recall 0.92), 어디서 자를지(threshold) 규칙이 미해결이라 수백~수천 개를 선택 → precision 붕괴로 F1은 아직 낮음</a:t>
            </a:r>
            <a:endParaRPr lang="en-US" sz="130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지점이 특정된 상태 – 다음 반복에서 threshold 규칙 확정 예정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0" y="1737360"/>
            <a:ext cx="4297680" cy="1298448"/>
          </a:xfrm>
          <a:prstGeom prst="roundRect">
            <a:avLst>
              <a:gd name="adj" fmla="val 6338"/>
            </a:avLst>
          </a:prstGeom>
          <a:solidFill>
            <a:srgbClr val="F0F4FA"/>
          </a:solidFill>
          <a:ln/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43800" y="1847088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235440" y="19202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recall (III 평균)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정답 50개 중 46개를 잡음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0" y="3182112"/>
            <a:ext cx="4297680" cy="1298448"/>
          </a:xfrm>
          <a:prstGeom prst="roundRect">
            <a:avLst>
              <a:gd name="adj" fmla="val 6338"/>
            </a:avLst>
          </a:prstGeom>
          <a:solidFill>
            <a:srgbClr val="F0F4FA"/>
          </a:solidFill>
          <a:ln/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43800" y="32918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0.59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235440" y="336499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AUCPR (III 평균)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순위 신호는 유효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0" y="4626864"/>
            <a:ext cx="4297680" cy="1298448"/>
          </a:xfrm>
          <a:prstGeom prst="roundRect">
            <a:avLst>
              <a:gd name="adj" fmla="val 6338"/>
            </a:avLst>
          </a:prstGeom>
          <a:solidFill>
            <a:srgbClr val="F0F4FA"/>
          </a:solidFill>
          <a:ln/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43800" y="4736592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32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0.10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35440" y="4809744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F1 (III 평균)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threshold 미해결 → 과다선택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4부 – 진행 중과 다음 계획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 계획 – 발견이 그대로 실험 설계가 된다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222992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4막 · 계획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0F4FA"/>
          </a:solidFill>
          <a:ln/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05740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39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02996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SNR 정렬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95528" y="2926080"/>
            <a:ext cx="21122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β를 논문 SNR(III=14.4, IV=9.5)에 맞춰 재추출 + 1se 규칙 → 논문 F1 재현 확인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68396" y="2907792"/>
            <a:ext cx="192024" cy="365760"/>
          </a:xfrm>
          <a:prstGeom prst="chevron">
            <a:avLst/>
          </a:prstGeom>
          <a:solidFill>
            <a:srgbClr val="A8B3C5"/>
          </a:solidFill>
          <a:ln/>
        </p:spPr>
      </p:sp>
      <p:sp>
        <p:nvSpPr>
          <p:cNvPr id="12" name="Shape 10"/>
          <p:cNvSpPr/>
          <p:nvPr/>
        </p:nvSpPr>
        <p:spPr>
          <a:xfrm>
            <a:off x="3374136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0F4FA"/>
          </a:solidFill>
          <a:ln/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02736" y="205740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602736" y="2039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51376" y="202996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Random LASSO 마무리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21024" y="2926080"/>
            <a:ext cx="21122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threshold 규칙 확정 → F1 회복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93892" y="2907792"/>
            <a:ext cx="192024" cy="365760"/>
          </a:xfrm>
          <a:prstGeom prst="chevron">
            <a:avLst/>
          </a:prstGeom>
          <a:solidFill>
            <a:srgbClr val="A8B3C5"/>
          </a:solidFill>
          <a:ln/>
        </p:spPr>
      </p:sp>
      <p:sp>
        <p:nvSpPr>
          <p:cNvPr id="18" name="Shape 16"/>
          <p:cNvSpPr/>
          <p:nvPr/>
        </p:nvSpPr>
        <p:spPr>
          <a:xfrm>
            <a:off x="6199632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28232" y="2057400"/>
            <a:ext cx="438912" cy="438912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2039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76872" y="202996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Hi-LASSO 구현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46520" y="2926080"/>
            <a:ext cx="21122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Algorithm 2 (2단계 부트스트랩 + 전역 오라클)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19388" y="2907792"/>
            <a:ext cx="192024" cy="365760"/>
          </a:xfrm>
          <a:prstGeom prst="chevron">
            <a:avLst/>
          </a:prstGeom>
          <a:solidFill>
            <a:srgbClr val="A8B3C5"/>
          </a:solidFill>
          <a:ln/>
        </p:spPr>
      </p:sp>
      <p:sp>
        <p:nvSpPr>
          <p:cNvPr id="24" name="Shape 22"/>
          <p:cNvSpPr/>
          <p:nvPr/>
        </p:nvSpPr>
        <p:spPr>
          <a:xfrm>
            <a:off x="9025128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0F4FA"/>
          </a:solidFill>
          <a:ln/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53728" y="205740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253728" y="2039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02368" y="202996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Stochastic LASSO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272016" y="2926080"/>
            <a:ext cx="21122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최신 SOTA – 단, 평가지표가 달라 정렬 필요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8680" y="47091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목표 – Hi-LASSO 논문 F1 기준값 재현:  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Dataset I = 0.478   ·   II = 0.229   ·   III = 0.515   ·   IV = 0.609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68680" y="53492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발견 ③(SNR)이 1번 실험의 설계로, 발견 ①②(1se)가 모든 후속 실험의 기본 규칙으로 들어간다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754880" cy="4754880"/>
          </a:xfrm>
          <a:prstGeom prst="ellipse">
            <a:avLst/>
          </a:prstGeom>
          <a:solidFill>
            <a:srgbClr val="2A3A7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1188720"/>
            <a:ext cx="3108960" cy="3108960"/>
          </a:xfrm>
          <a:prstGeom prst="ellipse">
            <a:avLst/>
          </a:prstGeom>
          <a:solidFill>
            <a:srgbClr val="2A3A7E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정리 – 가져가실 3가지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46504"/>
            <a:ext cx="457200" cy="457200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28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4592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튀지 않는 실험 기반</a:t>
            </a:r>
            <a:endParaRPr lang="en-US" sz="17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단위분산 · β 고정 · held-out λ – 프로토콜 3가지를 확정해 반복 가능한 재현 환경을 만들었다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953512"/>
            <a:ext cx="457200" cy="457200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852928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격차의 체계적 추적</a:t>
            </a:r>
            <a:endParaRPr lang="en-US" sz="17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가설 → 진단 실험 → oracle 상한 → SNR. 논문과의 F1 격차를 끝까지 좁혀 원인을 특정했다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4059936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 단계가 명확</a:t>
            </a:r>
            <a:endParaRPr lang="en-US" sz="17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SNR 정렬 → Random LASSO 마무리 → Hi-LASSO 구현. 발견이 그대로 설계가 된다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9FB4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“재현이 안 맞는 것, 그 자체가 발견이었다.”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λ 선택 규칙 비교 – 전체 수치 (F1, 10회 평균)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222992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Backup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737360"/>
          <a:ext cx="99669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463040"/>
                <a:gridCol w="1463040"/>
                <a:gridCol w="1463040"/>
                <a:gridCol w="1463040"/>
                <a:gridCol w="14630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방법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데이터셋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논문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val-min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val-1se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oracle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1se ÷ 논문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LASSO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0.4399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0.3526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0.4509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0.5821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1.03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LASSO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II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0.1169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0.1418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0.1373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0.2064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1.17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LASSO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III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0.3206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0.1286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0.1907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0.2349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0.59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LASSO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IV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0.2930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0.1883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0.2380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0.2653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0.81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ENet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0.4238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0.3719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0.4597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0.8318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1.08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ENet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II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0.1578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0.1802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0.2059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0.6409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1.30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ENet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III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0.3258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0.1592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0.2555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0.7330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0.78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ENet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IV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0.3145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0.1909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0.2532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0.7973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0.80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97280" y="56235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빨간 oracle = 논문보다 낮은 값 (LASSO III·IV – 발견 ③의 근거)  ·  출처: results/lambda_rule_summary.csv, lambda-rule-findings.md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 문장 ↔ 코드 대응표 – “정말 논문대로 했나?”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222992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Backup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45920"/>
          <a:ext cx="103327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657600"/>
                <a:gridCol w="2743200"/>
              </a:tblGrid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논문 (Section III)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노트북 함수/변수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비고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식(18) y = Xβ + ε, xᵢ~N(0,1)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generate_split()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단위분산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식(20)(21) 공분산 Σ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build_cov()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블록 대각, cross 0.3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식(19) β 고정 / N(0,4)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build_beta() + SEED_BETA=34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β 반복 간 고정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train/val/test 분할, y 중심화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generate_split(), ymean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train 평균 사용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λ = 검증셋 예측오차 최소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select_model(), val_mse()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held-out (CV 아님)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LASSO / Elastic-Net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L1_RATIOS = [1.0] / [0.1..0.9]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glmnet alpha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RME_All / RME_Nonzeros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rme() / rme_nonzeros()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Σ 가중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RMSE / F1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rmse() / f1_selection()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test 셋 / β̂≠0 판정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SNR = βᵀΣβ/σ²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snr()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검산용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10회 반복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N_REPEAT = 10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평균 ± 표준오차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14400" y="59436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대응표와 근거: docs/00-simulation.md §5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디버깅 회고 – rpy2 메모리 뷰 버그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222992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Backup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93592" cy="3017520"/>
          </a:xfrm>
          <a:prstGeom prst="roundRect">
            <a:avLst>
              <a:gd name="adj" fmla="val 2727"/>
            </a:avLst>
          </a:prstGeom>
          <a:solidFill>
            <a:srgbClr val="F0F4FA"/>
          </a:solidFill>
          <a:ln/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03120"/>
            <a:ext cx="1188720" cy="411480"/>
          </a:xfrm>
          <a:prstGeom prst="roundRect">
            <a:avLst>
              <a:gd name="adj" fmla="val 22222"/>
            </a:avLst>
          </a:prstGeom>
          <a:solidFill>
            <a:srgbClr val="B3261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30449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ENet IV 5번째 반복에서 추정 계수가 전부 0으로 기록 – F1 평균이 0.191 → 0.166으로 왜곡. 간헐적이라 재현도 어려웠음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62272" y="1828800"/>
            <a:ext cx="3593592" cy="3017520"/>
          </a:xfrm>
          <a:prstGeom prst="roundRect">
            <a:avLst>
              <a:gd name="adj" fmla="val 2727"/>
            </a:avLst>
          </a:prstGeom>
          <a:solidFill>
            <a:srgbClr val="F0F4FA"/>
          </a:solidFill>
          <a:ln/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2103120"/>
            <a:ext cx="1188720" cy="411480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736592" y="2103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36592" y="2697480"/>
            <a:ext cx="30449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rpy2에서 np.asarray(R객체)는 R 메모리의 '뷰'일 수 있다. R 쪽에서 del fit + gc() 후 그 뷰를 읽으면 이미 해제된 메모리(전부 0)를 읽음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75904" y="1828800"/>
            <a:ext cx="3593592" cy="3017520"/>
          </a:xfrm>
          <a:prstGeom prst="roundRect">
            <a:avLst>
              <a:gd name="adj" fmla="val 2727"/>
            </a:avLst>
          </a:prstGeom>
          <a:solidFill>
            <a:srgbClr val="F0F4FA"/>
          </a:solidFill>
          <a:ln/>
          <a:effectLst>
            <a:outerShdw sx="100000" sy="100000" kx="0" ky="0" algn="bl" rotWithShape="0" blurRad="76200" dist="127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50224" y="2103120"/>
            <a:ext cx="1188720" cy="411480"/>
          </a:xfrm>
          <a:prstGeom prst="roundRect">
            <a:avLst>
              <a:gd name="adj" fmla="val 22222"/>
            </a:avLst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8650224" y="2103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50224" y="2697480"/>
            <a:ext cx="30449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경로 데이터를 보관할 때는 반드시 np.array(..., copy=True)로 소유권 있는 사본 생성. 노트북은 필요한 열만 즉시 .copy()하도록 정리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교훈: 언어 경계(R ↔ Python)를 넘는 데이터는 소유권부터 확인한다 – '고생한 점' 질문에 대한 답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2026-07-10T21:54:04Z</dcterms:created>
  <dcterms:modified xsi:type="dcterms:W3CDTF">2026-07-10T21:54:04Z</dcterms:modified>
</cp:coreProperties>
</file>